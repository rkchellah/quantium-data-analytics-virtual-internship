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4778" r:id="rId2"/>
    <p:sldId id="1010" r:id="rId3"/>
    <p:sldId id="4780" r:id="rId4"/>
    <p:sldId id="4779" r:id="rId5"/>
    <p:sldId id="4781" r:id="rId6"/>
    <p:sldId id="4787" r:id="rId7"/>
    <p:sldId id="4783" r:id="rId8"/>
    <p:sldId id="4784" r:id="rId9"/>
    <p:sldId id="4785" r:id="rId10"/>
    <p:sldId id="4788" r:id="rId11"/>
    <p:sldId id="4789" r:id="rId12"/>
    <p:sldId id="275" r:id="rId13"/>
  </p:sldIdLst>
  <p:sldSz cx="12192000" cy="6858000"/>
  <p:notesSz cx="6858000" cy="9144000"/>
  <p:embeddedFontLst>
    <p:embeddedFont>
      <p:font typeface="Roboto" panose="02000000000000000000" pitchFamily="2" charset="0"/>
      <p:regular r:id="rId15"/>
      <p:bold r:id="rId16"/>
      <p:italic r:id="rId17"/>
      <p:boldItalic r:id="rId18"/>
    </p:embeddedFont>
    <p:embeddedFont>
      <p:font typeface="Roboto Light" panose="02000000000000000000" pitchFamily="2" charset="0"/>
      <p:regular r:id="rId19"/>
      <p:italic r:id="rId20"/>
    </p:embeddedFont>
    <p:embeddedFont>
      <p:font typeface="Roboto Medium" panose="02000000000000000000" pitchFamily="2" charset="0"/>
      <p:regular r:id="rId21"/>
      <p: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7"/>
            <p14:sldId id="4783"/>
            <p14:sldId id="4784"/>
            <p14:sldId id="4785"/>
            <p14:sldId id="4788"/>
            <p14:sldId id="4789"/>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908E"/>
    <a:srgbClr val="736E68"/>
    <a:srgbClr val="4A4A4E"/>
    <a:srgbClr val="3F68AD"/>
    <a:srgbClr val="44D6A3"/>
    <a:srgbClr val="44B5C4"/>
    <a:srgbClr val="ECE8E4"/>
    <a:srgbClr val="C7C5C4"/>
    <a:srgbClr val="EACC77"/>
    <a:srgbClr val="7FDD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73" d="100"/>
          <a:sy n="73" d="100"/>
        </p:scale>
        <p:origin x="1363" y="283"/>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18/02/2026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12</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Customer Insights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June 2020</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02</a:t>
            </a: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7"/>
            <a:ext cx="1896185" cy="1718741"/>
          </a:xfrm>
          <a:prstGeom prst="rect">
            <a:avLst/>
          </a:prstGeom>
          <a:noFill/>
        </p:spPr>
        <p:txBody>
          <a:bodyPr wrap="square" lIns="0" tIns="0" rIns="0" bIns="0" rtlCol="0" anchor="t">
            <a:noAutofit/>
          </a:bodyPr>
          <a:lstStyle/>
          <a:p>
            <a:r>
              <a:rPr lang="en-US" sz="1400" dirty="0">
                <a:latin typeface="+mj-lt"/>
                <a:ea typeface="Roboto" panose="02000000000000000000" pitchFamily="2" charset="0"/>
                <a:cs typeface="Roboto" panose="02000000000000000000" pitchFamily="2" charset="0"/>
              </a:rPr>
              <a:t>Data Analysis &amp; Customer Insights</a:t>
            </a:r>
            <a:endParaRPr lang="en-AU" sz="1400" dirty="0">
              <a:latin typeface="+mj-lt"/>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r>
              <a:rPr lang="en-GB" sz="1400" dirty="0"/>
              <a:t>Uplift Testing &amp; Experimentation Analysis</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7"/>
            <a:ext cx="7580989" cy="1718742"/>
          </a:xfrm>
          <a:prstGeom prst="rect">
            <a:avLst/>
          </a:prstGeom>
          <a:noFill/>
        </p:spPr>
        <p:txBody>
          <a:bodyPr wrap="square" lIns="0" tIns="0" rIns="0" bIns="0" rtlCol="0" anchor="t">
            <a:noAutofit/>
          </a:bodyPr>
          <a:lstStyle/>
          <a:p>
            <a:r>
              <a:rPr lang="en-GB" sz="1200" dirty="0"/>
              <a:t>This report presents a detailed analysis of chip sales data across </a:t>
            </a:r>
            <a:r>
              <a:rPr lang="en-GB" sz="1200" dirty="0" err="1"/>
              <a:t>Quantium's</a:t>
            </a:r>
            <a:r>
              <a:rPr lang="en-GB" sz="1200" dirty="0"/>
              <a:t> retail network for the 12-month period from July 2018 to June 2019. The analysis examines sales trends, product preferences, and customer purchasing behaviour across different life stages and premium-tier segments.</a:t>
            </a:r>
          </a:p>
          <a:p>
            <a:endParaRPr lang="en-AU" sz="1200" dirty="0">
              <a:latin typeface="Roboto Light" panose="02000000000000000000" pitchFamily="2" charset="0"/>
              <a:ea typeface="Roboto Light" panose="02000000000000000000" pitchFamily="2" charset="0"/>
            </a:endParaRP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r>
              <a:rPr lang="en-GB" sz="1200" dirty="0"/>
              <a:t>This report evaluates whether a new store layout was introduced in three trial stores. Stores </a:t>
            </a:r>
            <a:r>
              <a:rPr lang="en-GB" sz="1200" b="1" dirty="0"/>
              <a:t>77</a:t>
            </a:r>
            <a:r>
              <a:rPr lang="en-GB" sz="1200" dirty="0"/>
              <a:t>, </a:t>
            </a:r>
            <a:r>
              <a:rPr lang="en-GB" sz="1200" b="1" dirty="0"/>
              <a:t>86</a:t>
            </a:r>
            <a:r>
              <a:rPr lang="en-GB" sz="1200" dirty="0"/>
              <a:t>, and </a:t>
            </a:r>
            <a:r>
              <a:rPr lang="en-GB" sz="1200" b="1" dirty="0"/>
              <a:t>88</a:t>
            </a:r>
            <a:r>
              <a:rPr lang="en-GB" sz="1200" dirty="0"/>
              <a:t> had a meaningful impact on chip sales and customer counts between February and April 2019. The analysis was led by Julia, the chip category manager, to inform a decision on whether to roll out the layout to other stores in the network.</a:t>
            </a:r>
          </a:p>
          <a:p>
            <a:r>
              <a:rPr lang="en-GB" sz="1200" dirty="0"/>
              <a:t>To measure impact fairly, each trial store was matched with a similar "control store" that did not change its layout during the same period. By comparing what happened in the trial stores against what we would have expected based on the control stores, we can isolate the effect of the layout change from broader market trends.</a:t>
            </a:r>
          </a:p>
          <a:p>
            <a:r>
              <a:rPr lang="en-GB" sz="1200" dirty="0"/>
              <a:t> </a:t>
            </a:r>
            <a:endParaRPr lang="en-AU" sz="12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Data Analysis &amp; Customer Insights</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417692" y="433971"/>
            <a:ext cx="10479600" cy="901855"/>
          </a:xfrm>
        </p:spPr>
        <p:txBody>
          <a:bodyPr/>
          <a:lstStyle/>
          <a:p>
            <a:r>
              <a:rPr lang="en-GB" sz="2000" b="1" dirty="0"/>
              <a:t>A Full Year of Chip Sales (July 2018 – June 2019)</a:t>
            </a:r>
          </a:p>
          <a:p>
            <a:r>
              <a:rPr lang="en-GB" sz="1600" dirty="0"/>
              <a:t>Christmas Day (Dec 25): Zero sales recorded. All stores closed. Critical for stock planning around this date</a:t>
            </a:r>
          </a:p>
          <a:p>
            <a:endParaRPr lang="en-AU" sz="2000" dirty="0"/>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sp>
        <p:nvSpPr>
          <p:cNvPr id="6" name="TextBox 5">
            <a:extLst>
              <a:ext uri="{FF2B5EF4-FFF2-40B4-BE49-F238E27FC236}">
                <a16:creationId xmlns:a16="http://schemas.microsoft.com/office/drawing/2014/main" id="{48A34E43-7F60-D017-BE51-D28ED2F48E8A}"/>
              </a:ext>
            </a:extLst>
          </p:cNvPr>
          <p:cNvSpPr txBox="1"/>
          <p:nvPr/>
        </p:nvSpPr>
        <p:spPr>
          <a:xfrm>
            <a:off x="1776248" y="2858814"/>
            <a:ext cx="1408386" cy="570186"/>
          </a:xfrm>
          <a:prstGeom prst="rect">
            <a:avLst/>
          </a:prstGeom>
          <a:noFill/>
        </p:spPr>
        <p:txBody>
          <a:bodyPr wrap="square" lIns="0" tIns="0" rIns="0" bIns="0" rtlCol="0" anchor="t">
            <a:noAutofit/>
          </a:bodyPr>
          <a:lstStyle/>
          <a:p>
            <a:pPr algn="l"/>
            <a:endParaRPr lang="en-GB" sz="1200" dirty="0" err="1">
              <a:latin typeface="Roboto Light" panose="02000000000000000000" pitchFamily="2" charset="0"/>
              <a:ea typeface="Roboto Light" panose="02000000000000000000" pitchFamily="2" charset="0"/>
            </a:endParaRPr>
          </a:p>
        </p:txBody>
      </p:sp>
      <p:pic>
        <p:nvPicPr>
          <p:cNvPr id="2" name="Picture 1">
            <a:extLst>
              <a:ext uri="{FF2B5EF4-FFF2-40B4-BE49-F238E27FC236}">
                <a16:creationId xmlns:a16="http://schemas.microsoft.com/office/drawing/2014/main" id="{E7C534D1-A72E-EB9B-D776-0C844D07831F}"/>
              </a:ext>
            </a:extLst>
          </p:cNvPr>
          <p:cNvPicPr>
            <a:picLocks noChangeAspect="1"/>
          </p:cNvPicPr>
          <p:nvPr/>
        </p:nvPicPr>
        <p:blipFill>
          <a:blip r:embed="rId3"/>
          <a:stretch>
            <a:fillRect/>
          </a:stretch>
        </p:blipFill>
        <p:spPr>
          <a:xfrm>
            <a:off x="1776248" y="1639966"/>
            <a:ext cx="7325711" cy="4008009"/>
          </a:xfrm>
          <a:prstGeom prst="rect">
            <a:avLst/>
          </a:prstGeom>
        </p:spPr>
      </p:pic>
      <p:sp>
        <p:nvSpPr>
          <p:cNvPr id="5" name="Text Placeholder 3">
            <a:extLst>
              <a:ext uri="{FF2B5EF4-FFF2-40B4-BE49-F238E27FC236}">
                <a16:creationId xmlns:a16="http://schemas.microsoft.com/office/drawing/2014/main" id="{202D5262-2715-4B32-BFFC-CBA55FCE0883}"/>
              </a:ext>
            </a:extLst>
          </p:cNvPr>
          <p:cNvSpPr txBox="1">
            <a:spLocks/>
          </p:cNvSpPr>
          <p:nvPr/>
        </p:nvSpPr>
        <p:spPr>
          <a:xfrm>
            <a:off x="9179530" y="4110254"/>
            <a:ext cx="2717762" cy="770082"/>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2000" b="1" dirty="0"/>
              <a:t>DEC</a:t>
            </a:r>
          </a:p>
          <a:p>
            <a:pPr algn="ctr"/>
            <a:r>
              <a:rPr lang="en-GB" sz="1600" dirty="0">
                <a:solidFill>
                  <a:srgbClr val="1B2A4A"/>
                </a:solidFill>
                <a:cs typeface="Roboto" panose="02000000000000000000" pitchFamily="2" charset="0"/>
              </a:rPr>
              <a:t>Peak Sales Month</a:t>
            </a:r>
            <a:endParaRPr lang="en-GB" sz="1600" dirty="0"/>
          </a:p>
          <a:p>
            <a:endParaRPr lang="en-AU" sz="2000" dirty="0"/>
          </a:p>
        </p:txBody>
      </p:sp>
      <p:sp>
        <p:nvSpPr>
          <p:cNvPr id="8" name="Text Placeholder 3">
            <a:extLst>
              <a:ext uri="{FF2B5EF4-FFF2-40B4-BE49-F238E27FC236}">
                <a16:creationId xmlns:a16="http://schemas.microsoft.com/office/drawing/2014/main" id="{65C7F464-D7C7-8E99-2F18-BEAF7C4A0839}"/>
              </a:ext>
            </a:extLst>
          </p:cNvPr>
          <p:cNvSpPr txBox="1">
            <a:spLocks/>
          </p:cNvSpPr>
          <p:nvPr/>
        </p:nvSpPr>
        <p:spPr>
          <a:xfrm>
            <a:off x="9179530" y="1977664"/>
            <a:ext cx="2717762" cy="770082"/>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2000" b="1" dirty="0"/>
              <a:t>364</a:t>
            </a:r>
          </a:p>
          <a:p>
            <a:pPr algn="ctr"/>
            <a:r>
              <a:rPr lang="en-GB" sz="1600" dirty="0">
                <a:solidFill>
                  <a:srgbClr val="1B2A4A"/>
                </a:solidFill>
                <a:cs typeface="Roboto" panose="02000000000000000000" pitchFamily="2" charset="0"/>
              </a:rPr>
              <a:t>Days of Sales Data</a:t>
            </a:r>
            <a:endParaRPr lang="en-GB" sz="1600" dirty="0"/>
          </a:p>
          <a:p>
            <a:endParaRPr lang="en-AU" sz="2000" dirty="0"/>
          </a:p>
        </p:txBody>
      </p:sp>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E2358-3B68-9DB1-AFEB-C5EF2B6F41A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3CD5E22-2469-CE37-74BE-0C0265AAF980}"/>
              </a:ext>
            </a:extLst>
          </p:cNvPr>
          <p:cNvPicPr>
            <a:picLocks noChangeAspect="1"/>
          </p:cNvPicPr>
          <p:nvPr/>
        </p:nvPicPr>
        <p:blipFill>
          <a:blip r:embed="rId2"/>
          <a:stretch>
            <a:fillRect/>
          </a:stretch>
        </p:blipFill>
        <p:spPr>
          <a:xfrm>
            <a:off x="12305518" y="0"/>
            <a:ext cx="1993565" cy="2005758"/>
          </a:xfrm>
          <a:prstGeom prst="rect">
            <a:avLst/>
          </a:prstGeom>
        </p:spPr>
      </p:pic>
      <p:sp>
        <p:nvSpPr>
          <p:cNvPr id="8" name="Text Placeholder 7">
            <a:extLst>
              <a:ext uri="{FF2B5EF4-FFF2-40B4-BE49-F238E27FC236}">
                <a16:creationId xmlns:a16="http://schemas.microsoft.com/office/drawing/2014/main" id="{4DD3680E-E79C-771D-1C23-95B1C4F0899A}"/>
              </a:ext>
            </a:extLst>
          </p:cNvPr>
          <p:cNvSpPr>
            <a:spLocks noGrp="1"/>
          </p:cNvSpPr>
          <p:nvPr>
            <p:ph type="body" sz="quarter" idx="10"/>
          </p:nvPr>
        </p:nvSpPr>
        <p:spPr>
          <a:xfrm>
            <a:off x="1165444" y="489298"/>
            <a:ext cx="10479600" cy="534601"/>
          </a:xfrm>
        </p:spPr>
        <p:txBody>
          <a:bodyPr/>
          <a:lstStyle/>
          <a:p>
            <a:r>
              <a:rPr lang="en-US" sz="2000" b="1" dirty="0"/>
              <a:t>How Different Segments Buy: Volume &amp; Price</a:t>
            </a:r>
            <a:endParaRPr lang="en-GB" sz="2000" b="1" dirty="0"/>
          </a:p>
        </p:txBody>
      </p:sp>
      <p:pic>
        <p:nvPicPr>
          <p:cNvPr id="10" name="Picture 9">
            <a:extLst>
              <a:ext uri="{FF2B5EF4-FFF2-40B4-BE49-F238E27FC236}">
                <a16:creationId xmlns:a16="http://schemas.microsoft.com/office/drawing/2014/main" id="{650C5010-C8BC-F083-0E07-1C86A96AD468}"/>
              </a:ext>
            </a:extLst>
          </p:cNvPr>
          <p:cNvPicPr>
            <a:picLocks noChangeAspect="1"/>
          </p:cNvPicPr>
          <p:nvPr/>
        </p:nvPicPr>
        <p:blipFill>
          <a:blip r:embed="rId3"/>
          <a:stretch>
            <a:fillRect/>
          </a:stretch>
        </p:blipFill>
        <p:spPr>
          <a:xfrm>
            <a:off x="966831" y="2005758"/>
            <a:ext cx="4955134" cy="3830860"/>
          </a:xfrm>
          <a:prstGeom prst="rect">
            <a:avLst/>
          </a:prstGeom>
        </p:spPr>
      </p:pic>
      <p:pic>
        <p:nvPicPr>
          <p:cNvPr id="12" name="Picture 11">
            <a:extLst>
              <a:ext uri="{FF2B5EF4-FFF2-40B4-BE49-F238E27FC236}">
                <a16:creationId xmlns:a16="http://schemas.microsoft.com/office/drawing/2014/main" id="{45658DA5-08E3-11F2-541D-938BB7C07B39}"/>
              </a:ext>
            </a:extLst>
          </p:cNvPr>
          <p:cNvPicPr>
            <a:picLocks noChangeAspect="1"/>
          </p:cNvPicPr>
          <p:nvPr/>
        </p:nvPicPr>
        <p:blipFill>
          <a:blip r:embed="rId4"/>
          <a:stretch>
            <a:fillRect/>
          </a:stretch>
        </p:blipFill>
        <p:spPr>
          <a:xfrm>
            <a:off x="6467948" y="2005758"/>
            <a:ext cx="5177096" cy="4181501"/>
          </a:xfrm>
          <a:prstGeom prst="rect">
            <a:avLst/>
          </a:prstGeom>
        </p:spPr>
      </p:pic>
      <p:sp>
        <p:nvSpPr>
          <p:cNvPr id="17" name="Text 20">
            <a:extLst>
              <a:ext uri="{FF2B5EF4-FFF2-40B4-BE49-F238E27FC236}">
                <a16:creationId xmlns:a16="http://schemas.microsoft.com/office/drawing/2014/main" id="{A9125A83-787D-AC2C-49F8-47C06CA6B3F2}"/>
              </a:ext>
            </a:extLst>
          </p:cNvPr>
          <p:cNvSpPr/>
          <p:nvPr/>
        </p:nvSpPr>
        <p:spPr>
          <a:xfrm>
            <a:off x="1165444" y="1408132"/>
            <a:ext cx="5092973" cy="502920"/>
          </a:xfrm>
          <a:prstGeom prst="rect">
            <a:avLst/>
          </a:prstGeom>
          <a:noFill/>
          <a:ln/>
        </p:spPr>
        <p:txBody>
          <a:bodyPr wrap="square" lIns="0" tIns="0" rIns="0" bIns="0" rtlCol="0" anchor="ctr"/>
          <a:lstStyle/>
          <a:p>
            <a:pPr marL="0" indent="0">
              <a:buNone/>
            </a:pPr>
            <a:r>
              <a:rPr lang="en-US" sz="1200" dirty="0">
                <a:latin typeface="Roboto  "/>
                <a:ea typeface="Calibri" panose="020F0502020204030204" pitchFamily="34" charset="0"/>
                <a:cs typeface="Calibri" panose="020F0502020204030204" pitchFamily="34" charset="0"/>
              </a:rPr>
              <a:t>Older &amp; Young Families buy significantly more bags per customer, targeting multi-pack deals.</a:t>
            </a:r>
          </a:p>
        </p:txBody>
      </p:sp>
      <p:sp>
        <p:nvSpPr>
          <p:cNvPr id="18" name="Text 20">
            <a:extLst>
              <a:ext uri="{FF2B5EF4-FFF2-40B4-BE49-F238E27FC236}">
                <a16:creationId xmlns:a16="http://schemas.microsoft.com/office/drawing/2014/main" id="{2B2584EA-D177-823F-5DA3-FE924DB7CE3F}"/>
              </a:ext>
            </a:extLst>
          </p:cNvPr>
          <p:cNvSpPr/>
          <p:nvPr/>
        </p:nvSpPr>
        <p:spPr>
          <a:xfrm>
            <a:off x="1165444" y="1021382"/>
            <a:ext cx="2652028" cy="365961"/>
          </a:xfrm>
          <a:prstGeom prst="rect">
            <a:avLst/>
          </a:prstGeom>
          <a:noFill/>
          <a:ln/>
        </p:spPr>
        <p:txBody>
          <a:bodyPr wrap="square" lIns="0" tIns="0" rIns="0" bIns="0" rtlCol="0" anchor="ctr"/>
          <a:lstStyle/>
          <a:p>
            <a:pPr marL="0" indent="0">
              <a:buNone/>
            </a:pPr>
            <a:r>
              <a:rPr lang="en-US" sz="1600" dirty="0">
                <a:latin typeface="Roboto  "/>
                <a:ea typeface="Calibri" panose="020F0502020204030204" pitchFamily="34" charset="0"/>
                <a:cs typeface="Calibri" panose="020F0502020204030204" pitchFamily="34" charset="0"/>
              </a:rPr>
              <a:t>Families buy in bulk</a:t>
            </a:r>
          </a:p>
        </p:txBody>
      </p:sp>
      <p:sp>
        <p:nvSpPr>
          <p:cNvPr id="19" name="Text 20">
            <a:extLst>
              <a:ext uri="{FF2B5EF4-FFF2-40B4-BE49-F238E27FC236}">
                <a16:creationId xmlns:a16="http://schemas.microsoft.com/office/drawing/2014/main" id="{2A45A2A9-1C2A-3455-2A11-304EB3B67EC1}"/>
              </a:ext>
            </a:extLst>
          </p:cNvPr>
          <p:cNvSpPr/>
          <p:nvPr/>
        </p:nvSpPr>
        <p:spPr>
          <a:xfrm>
            <a:off x="6735481" y="1401534"/>
            <a:ext cx="5092973" cy="502920"/>
          </a:xfrm>
          <a:prstGeom prst="rect">
            <a:avLst/>
          </a:prstGeom>
          <a:noFill/>
          <a:ln/>
        </p:spPr>
        <p:txBody>
          <a:bodyPr wrap="square" lIns="0" tIns="0" rIns="0" bIns="0" rtlCol="0" anchor="ctr"/>
          <a:lstStyle/>
          <a:p>
            <a:pPr marL="0" indent="0">
              <a:buNone/>
            </a:pPr>
            <a:r>
              <a:rPr lang="en-US" sz="1200" dirty="0">
                <a:latin typeface="Roboto  "/>
                <a:ea typeface="Calibri" panose="020F0502020204030204" pitchFamily="34" charset="0"/>
                <a:cs typeface="Calibri" panose="020F0502020204030204" pitchFamily="34" charset="0"/>
              </a:rPr>
              <a:t>Mainstream Young/Mid-Age singles pay $0.30 more per bag (statistically significant, p &lt; 0.05)</a:t>
            </a:r>
          </a:p>
        </p:txBody>
      </p:sp>
      <p:sp>
        <p:nvSpPr>
          <p:cNvPr id="20" name="Text 20">
            <a:extLst>
              <a:ext uri="{FF2B5EF4-FFF2-40B4-BE49-F238E27FC236}">
                <a16:creationId xmlns:a16="http://schemas.microsoft.com/office/drawing/2014/main" id="{9261A210-7DEE-A6B3-6FDE-9A4206B6DB6B}"/>
              </a:ext>
            </a:extLst>
          </p:cNvPr>
          <p:cNvSpPr/>
          <p:nvPr/>
        </p:nvSpPr>
        <p:spPr>
          <a:xfrm>
            <a:off x="6776426" y="1010594"/>
            <a:ext cx="2652028" cy="365961"/>
          </a:xfrm>
          <a:prstGeom prst="rect">
            <a:avLst/>
          </a:prstGeom>
          <a:noFill/>
          <a:ln/>
        </p:spPr>
        <p:txBody>
          <a:bodyPr wrap="square" lIns="0" tIns="0" rIns="0" bIns="0" rtlCol="0" anchor="ctr"/>
          <a:lstStyle/>
          <a:p>
            <a:pPr marL="0" indent="0">
              <a:buNone/>
            </a:pPr>
            <a:r>
              <a:rPr lang="en-US" sz="1600" dirty="0">
                <a:latin typeface="Roboto  "/>
                <a:ea typeface="Calibri" panose="020F0502020204030204" pitchFamily="34" charset="0"/>
                <a:cs typeface="Calibri" panose="020F0502020204030204" pitchFamily="34" charset="0"/>
              </a:rPr>
              <a:t>Mainstream pay more</a:t>
            </a:r>
          </a:p>
        </p:txBody>
      </p:sp>
    </p:spTree>
    <p:extLst>
      <p:ext uri="{BB962C8B-B14F-4D97-AF65-F5344CB8AC3E}">
        <p14:creationId xmlns:p14="http://schemas.microsoft.com/office/powerpoint/2010/main" val="39790671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sp>
        <p:nvSpPr>
          <p:cNvPr id="5" name="Text Placeholder 6">
            <a:extLst>
              <a:ext uri="{FF2B5EF4-FFF2-40B4-BE49-F238E27FC236}">
                <a16:creationId xmlns:a16="http://schemas.microsoft.com/office/drawing/2014/main" id="{1BD3F969-6F72-5521-3BFA-C86A2A5287FE}"/>
              </a:ext>
            </a:extLst>
          </p:cNvPr>
          <p:cNvSpPr txBox="1">
            <a:spLocks/>
          </p:cNvSpPr>
          <p:nvPr/>
        </p:nvSpPr>
        <p:spPr>
          <a:xfrm>
            <a:off x="1133913" y="417289"/>
            <a:ext cx="10479600" cy="356098"/>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b="1" dirty="0"/>
              <a:t>Who Spends the Most on Chips?</a:t>
            </a:r>
          </a:p>
        </p:txBody>
      </p:sp>
      <p:pic>
        <p:nvPicPr>
          <p:cNvPr id="13" name="Picture 12">
            <a:extLst>
              <a:ext uri="{FF2B5EF4-FFF2-40B4-BE49-F238E27FC236}">
                <a16:creationId xmlns:a16="http://schemas.microsoft.com/office/drawing/2014/main" id="{C31187C0-0B42-4A28-A0B0-672BD770FA6A}"/>
              </a:ext>
            </a:extLst>
          </p:cNvPr>
          <p:cNvPicPr>
            <a:picLocks noChangeAspect="1"/>
          </p:cNvPicPr>
          <p:nvPr/>
        </p:nvPicPr>
        <p:blipFill>
          <a:blip r:embed="rId3"/>
          <a:stretch>
            <a:fillRect/>
          </a:stretch>
        </p:blipFill>
        <p:spPr>
          <a:xfrm>
            <a:off x="1045238" y="1682412"/>
            <a:ext cx="8186282" cy="3842826"/>
          </a:xfrm>
          <a:prstGeom prst="rect">
            <a:avLst/>
          </a:prstGeom>
        </p:spPr>
      </p:pic>
      <p:sp>
        <p:nvSpPr>
          <p:cNvPr id="31" name="Text 6">
            <a:extLst>
              <a:ext uri="{FF2B5EF4-FFF2-40B4-BE49-F238E27FC236}">
                <a16:creationId xmlns:a16="http://schemas.microsoft.com/office/drawing/2014/main" id="{8131B293-30B2-73D8-E2EB-05AD532BB92F}"/>
              </a:ext>
            </a:extLst>
          </p:cNvPr>
          <p:cNvSpPr/>
          <p:nvPr/>
        </p:nvSpPr>
        <p:spPr>
          <a:xfrm>
            <a:off x="9231520" y="2049345"/>
            <a:ext cx="658368" cy="914400"/>
          </a:xfrm>
          <a:prstGeom prst="rect">
            <a:avLst/>
          </a:prstGeom>
          <a:noFill/>
          <a:ln/>
        </p:spPr>
        <p:txBody>
          <a:bodyPr wrap="square" lIns="0" tIns="0" rIns="0" bIns="0" rtlCol="0" anchor="ctr"/>
          <a:lstStyle/>
          <a:p>
            <a:pPr marL="0" indent="0" algn="ctr">
              <a:buNone/>
            </a:pPr>
            <a:r>
              <a:rPr lang="en-US" sz="1500" b="1" dirty="0">
                <a:latin typeface="Roboto" panose="02000000000000000000" pitchFamily="2" charset="0"/>
                <a:ea typeface="Roboto" panose="02000000000000000000" pitchFamily="2" charset="0"/>
                <a:cs typeface="Roboto" panose="02000000000000000000" pitchFamily="2" charset="0"/>
              </a:rPr>
              <a:t>#1</a:t>
            </a:r>
            <a:endParaRPr lang="en-US" sz="1500" dirty="0">
              <a:latin typeface="Roboto" panose="02000000000000000000" pitchFamily="2" charset="0"/>
              <a:ea typeface="Roboto" panose="02000000000000000000" pitchFamily="2" charset="0"/>
              <a:cs typeface="Roboto" panose="02000000000000000000" pitchFamily="2" charset="0"/>
            </a:endParaRPr>
          </a:p>
        </p:txBody>
      </p:sp>
      <p:sp>
        <p:nvSpPr>
          <p:cNvPr id="32" name="Text 7">
            <a:extLst>
              <a:ext uri="{FF2B5EF4-FFF2-40B4-BE49-F238E27FC236}">
                <a16:creationId xmlns:a16="http://schemas.microsoft.com/office/drawing/2014/main" id="{96036B28-0C93-B1DB-10F9-743E4EE41A45}"/>
              </a:ext>
            </a:extLst>
          </p:cNvPr>
          <p:cNvSpPr/>
          <p:nvPr/>
        </p:nvSpPr>
        <p:spPr>
          <a:xfrm>
            <a:off x="9963040" y="2104209"/>
            <a:ext cx="2267712" cy="475488"/>
          </a:xfrm>
          <a:prstGeom prst="rect">
            <a:avLst/>
          </a:prstGeom>
          <a:noFill/>
          <a:ln/>
        </p:spPr>
        <p:txBody>
          <a:bodyPr wrap="square" lIns="0" tIns="0" rIns="0" bIns="0" rtlCol="0" anchor="ctr"/>
          <a:lstStyle/>
          <a:p>
            <a:pPr marL="0" indent="0">
              <a:buNone/>
            </a:pPr>
            <a:r>
              <a:rPr lang="en-US" sz="1400" dirty="0">
                <a:latin typeface="Roboto" panose="02000000000000000000" pitchFamily="2" charset="0"/>
                <a:ea typeface="Roboto" panose="02000000000000000000" pitchFamily="2" charset="0"/>
                <a:cs typeface="Roboto" panose="02000000000000000000" pitchFamily="2" charset="0"/>
              </a:rPr>
              <a:t>Budget</a:t>
            </a:r>
          </a:p>
          <a:p>
            <a:pPr marL="0" indent="0">
              <a:buNone/>
            </a:pPr>
            <a:r>
              <a:rPr lang="en-US" sz="1400" dirty="0">
                <a:latin typeface="Roboto" panose="02000000000000000000" pitchFamily="2" charset="0"/>
                <a:ea typeface="Roboto" panose="02000000000000000000" pitchFamily="2" charset="0"/>
                <a:cs typeface="Roboto" panose="02000000000000000000" pitchFamily="2" charset="0"/>
              </a:rPr>
              <a:t>Older Families</a:t>
            </a:r>
          </a:p>
        </p:txBody>
      </p:sp>
      <p:sp>
        <p:nvSpPr>
          <p:cNvPr id="33" name="Text 8">
            <a:extLst>
              <a:ext uri="{FF2B5EF4-FFF2-40B4-BE49-F238E27FC236}">
                <a16:creationId xmlns:a16="http://schemas.microsoft.com/office/drawing/2014/main" id="{1B7C8A1A-3E72-9477-B2BC-A9A505F10390}"/>
              </a:ext>
            </a:extLst>
          </p:cNvPr>
          <p:cNvSpPr/>
          <p:nvPr/>
        </p:nvSpPr>
        <p:spPr>
          <a:xfrm>
            <a:off x="9963040" y="2579697"/>
            <a:ext cx="2267712" cy="292608"/>
          </a:xfrm>
          <a:prstGeom prst="rect">
            <a:avLst/>
          </a:prstGeom>
          <a:noFill/>
          <a:ln/>
        </p:spPr>
        <p:txBody>
          <a:bodyPr wrap="square" lIns="0" tIns="0" rIns="0" bIns="0" rtlCol="0" anchor="ctr"/>
          <a:lstStyle/>
          <a:p>
            <a:pPr marL="0" indent="0">
              <a:buNone/>
            </a:pPr>
            <a:r>
              <a:rPr lang="en-US" sz="1100" dirty="0">
                <a:solidFill>
                  <a:srgbClr val="64748B"/>
                </a:solidFill>
                <a:latin typeface="Roboto" panose="02000000000000000000" pitchFamily="2" charset="0"/>
                <a:ea typeface="Roboto" panose="02000000000000000000" pitchFamily="2" charset="0"/>
                <a:cs typeface="Roboto" panose="02000000000000000000" pitchFamily="2" charset="0"/>
              </a:rPr>
              <a:t>Buy the most bags per visit</a:t>
            </a:r>
            <a:endParaRPr lang="en-US" sz="1100" dirty="0">
              <a:latin typeface="Roboto" panose="02000000000000000000" pitchFamily="2" charset="0"/>
              <a:ea typeface="Roboto" panose="02000000000000000000" pitchFamily="2" charset="0"/>
              <a:cs typeface="Roboto" panose="02000000000000000000" pitchFamily="2" charset="0"/>
            </a:endParaRPr>
          </a:p>
        </p:txBody>
      </p:sp>
      <p:sp>
        <p:nvSpPr>
          <p:cNvPr id="34" name="Text 11">
            <a:extLst>
              <a:ext uri="{FF2B5EF4-FFF2-40B4-BE49-F238E27FC236}">
                <a16:creationId xmlns:a16="http://schemas.microsoft.com/office/drawing/2014/main" id="{BEC4EDF0-936A-BC69-069F-7D4D362CE593}"/>
              </a:ext>
            </a:extLst>
          </p:cNvPr>
          <p:cNvSpPr/>
          <p:nvPr/>
        </p:nvSpPr>
        <p:spPr>
          <a:xfrm>
            <a:off x="9231520" y="3073473"/>
            <a:ext cx="658368" cy="914400"/>
          </a:xfrm>
          <a:prstGeom prst="rect">
            <a:avLst/>
          </a:prstGeom>
          <a:noFill/>
          <a:ln/>
        </p:spPr>
        <p:txBody>
          <a:bodyPr wrap="square" lIns="0" tIns="0" rIns="0" bIns="0" rtlCol="0" anchor="ctr"/>
          <a:lstStyle/>
          <a:p>
            <a:pPr marL="0" indent="0" algn="ctr">
              <a:buNone/>
            </a:pPr>
            <a:r>
              <a:rPr lang="en-US" sz="1500" b="1" dirty="0">
                <a:latin typeface="Roboto" panose="02000000000000000000" pitchFamily="2" charset="0"/>
                <a:ea typeface="Roboto" panose="02000000000000000000" pitchFamily="2" charset="0"/>
                <a:cs typeface="Roboto" panose="02000000000000000000" pitchFamily="2" charset="0"/>
              </a:rPr>
              <a:t>#2</a:t>
            </a:r>
            <a:endParaRPr lang="en-US" sz="1500" dirty="0">
              <a:latin typeface="Roboto" panose="02000000000000000000" pitchFamily="2" charset="0"/>
              <a:ea typeface="Roboto" panose="02000000000000000000" pitchFamily="2" charset="0"/>
              <a:cs typeface="Roboto" panose="02000000000000000000" pitchFamily="2" charset="0"/>
            </a:endParaRPr>
          </a:p>
        </p:txBody>
      </p:sp>
      <p:sp>
        <p:nvSpPr>
          <p:cNvPr id="35" name="Text 12">
            <a:extLst>
              <a:ext uri="{FF2B5EF4-FFF2-40B4-BE49-F238E27FC236}">
                <a16:creationId xmlns:a16="http://schemas.microsoft.com/office/drawing/2014/main" id="{BCF3862E-A855-F028-40A8-9AC076AAA18D}"/>
              </a:ext>
            </a:extLst>
          </p:cNvPr>
          <p:cNvSpPr/>
          <p:nvPr/>
        </p:nvSpPr>
        <p:spPr>
          <a:xfrm>
            <a:off x="9963040" y="3128337"/>
            <a:ext cx="2267712" cy="475488"/>
          </a:xfrm>
          <a:prstGeom prst="rect">
            <a:avLst/>
          </a:prstGeom>
          <a:noFill/>
          <a:ln/>
        </p:spPr>
        <p:txBody>
          <a:bodyPr wrap="square" lIns="0" tIns="0" rIns="0" bIns="0" rtlCol="0" anchor="ctr"/>
          <a:lstStyle/>
          <a:p>
            <a:r>
              <a:rPr lang="en-US" sz="1400" dirty="0">
                <a:latin typeface="Roboto" panose="02000000000000000000" pitchFamily="2" charset="0"/>
                <a:ea typeface="Roboto" panose="02000000000000000000" pitchFamily="2" charset="0"/>
                <a:cs typeface="Roboto" panose="02000000000000000000" pitchFamily="2" charset="0"/>
              </a:rPr>
              <a:t>Mainstream Young</a:t>
            </a:r>
          </a:p>
          <a:p>
            <a:r>
              <a:rPr lang="en-US" sz="1400" dirty="0">
                <a:latin typeface="Roboto" panose="02000000000000000000" pitchFamily="2" charset="0"/>
                <a:ea typeface="Roboto" panose="02000000000000000000" pitchFamily="2" charset="0"/>
                <a:cs typeface="Roboto" panose="02000000000000000000" pitchFamily="2" charset="0"/>
              </a:rPr>
              <a:t>Singles/Couples</a:t>
            </a:r>
          </a:p>
        </p:txBody>
      </p:sp>
      <p:sp>
        <p:nvSpPr>
          <p:cNvPr id="36" name="Text 13">
            <a:extLst>
              <a:ext uri="{FF2B5EF4-FFF2-40B4-BE49-F238E27FC236}">
                <a16:creationId xmlns:a16="http://schemas.microsoft.com/office/drawing/2014/main" id="{42E0EE15-541A-7BFA-B4C4-729600AAFFBF}"/>
              </a:ext>
            </a:extLst>
          </p:cNvPr>
          <p:cNvSpPr/>
          <p:nvPr/>
        </p:nvSpPr>
        <p:spPr>
          <a:xfrm>
            <a:off x="9963040" y="3603825"/>
            <a:ext cx="2267712" cy="292608"/>
          </a:xfrm>
          <a:prstGeom prst="rect">
            <a:avLst/>
          </a:prstGeom>
          <a:noFill/>
          <a:ln/>
        </p:spPr>
        <p:txBody>
          <a:bodyPr wrap="square" lIns="0" tIns="0" rIns="0" bIns="0" rtlCol="0" anchor="ctr"/>
          <a:lstStyle/>
          <a:p>
            <a:pPr marL="0" indent="0">
              <a:buNone/>
            </a:pPr>
            <a:r>
              <a:rPr lang="en-US" sz="1100" dirty="0">
                <a:solidFill>
                  <a:srgbClr val="64748B"/>
                </a:solidFill>
                <a:latin typeface="Roboto" panose="02000000000000000000" pitchFamily="2" charset="0"/>
                <a:ea typeface="Roboto" panose="02000000000000000000" pitchFamily="2" charset="0"/>
                <a:cs typeface="Roboto" panose="02000000000000000000" pitchFamily="2" charset="0"/>
              </a:rPr>
              <a:t>Largest customer group</a:t>
            </a:r>
            <a:endParaRPr lang="en-US" sz="1100" dirty="0">
              <a:latin typeface="Roboto" panose="02000000000000000000" pitchFamily="2" charset="0"/>
              <a:ea typeface="Roboto" panose="02000000000000000000" pitchFamily="2" charset="0"/>
              <a:cs typeface="Roboto" panose="02000000000000000000" pitchFamily="2" charset="0"/>
            </a:endParaRPr>
          </a:p>
        </p:txBody>
      </p:sp>
      <p:sp>
        <p:nvSpPr>
          <p:cNvPr id="37" name="Text 16">
            <a:extLst>
              <a:ext uri="{FF2B5EF4-FFF2-40B4-BE49-F238E27FC236}">
                <a16:creationId xmlns:a16="http://schemas.microsoft.com/office/drawing/2014/main" id="{6708D76E-809E-C81B-20EC-AC85DEABC07B}"/>
              </a:ext>
            </a:extLst>
          </p:cNvPr>
          <p:cNvSpPr/>
          <p:nvPr/>
        </p:nvSpPr>
        <p:spPr>
          <a:xfrm>
            <a:off x="9231520" y="4097601"/>
            <a:ext cx="658368" cy="914400"/>
          </a:xfrm>
          <a:prstGeom prst="rect">
            <a:avLst/>
          </a:prstGeom>
          <a:noFill/>
          <a:ln/>
        </p:spPr>
        <p:txBody>
          <a:bodyPr wrap="square" lIns="0" tIns="0" rIns="0" bIns="0" rtlCol="0" anchor="ctr"/>
          <a:lstStyle/>
          <a:p>
            <a:pPr marL="0" indent="0" algn="ctr">
              <a:buNone/>
            </a:pPr>
            <a:r>
              <a:rPr lang="en-US" sz="1500" b="1" dirty="0">
                <a:latin typeface="Roboto" panose="02000000000000000000" pitchFamily="2" charset="0"/>
                <a:ea typeface="Roboto" panose="02000000000000000000" pitchFamily="2" charset="0"/>
                <a:cs typeface="Roboto" panose="02000000000000000000" pitchFamily="2" charset="0"/>
              </a:rPr>
              <a:t>#3</a:t>
            </a:r>
            <a:endParaRPr lang="en-US" sz="1500" dirty="0">
              <a:latin typeface="Roboto" panose="02000000000000000000" pitchFamily="2" charset="0"/>
              <a:ea typeface="Roboto" panose="02000000000000000000" pitchFamily="2" charset="0"/>
              <a:cs typeface="Roboto" panose="02000000000000000000" pitchFamily="2" charset="0"/>
            </a:endParaRPr>
          </a:p>
        </p:txBody>
      </p:sp>
      <p:sp>
        <p:nvSpPr>
          <p:cNvPr id="38" name="Text 17">
            <a:extLst>
              <a:ext uri="{FF2B5EF4-FFF2-40B4-BE49-F238E27FC236}">
                <a16:creationId xmlns:a16="http://schemas.microsoft.com/office/drawing/2014/main" id="{CFF985D5-10B2-E7AE-88B2-493F91AD3F1A}"/>
              </a:ext>
            </a:extLst>
          </p:cNvPr>
          <p:cNvSpPr/>
          <p:nvPr/>
        </p:nvSpPr>
        <p:spPr>
          <a:xfrm>
            <a:off x="9963040" y="4152465"/>
            <a:ext cx="2267712" cy="475488"/>
          </a:xfrm>
          <a:prstGeom prst="rect">
            <a:avLst/>
          </a:prstGeom>
          <a:noFill/>
          <a:ln/>
        </p:spPr>
        <p:txBody>
          <a:bodyPr wrap="square" lIns="0" tIns="0" rIns="0" bIns="0" rtlCol="0" anchor="ctr"/>
          <a:lstStyle/>
          <a:p>
            <a:pPr indent="0">
              <a:buNone/>
            </a:pPr>
            <a:r>
              <a:rPr lang="en-US" sz="1400" dirty="0">
                <a:latin typeface="Roboto" panose="02000000000000000000" pitchFamily="2" charset="0"/>
                <a:ea typeface="Roboto" panose="02000000000000000000" pitchFamily="2" charset="0"/>
                <a:cs typeface="Roboto" panose="02000000000000000000" pitchFamily="2" charset="0"/>
              </a:rPr>
              <a:t>Mainstream</a:t>
            </a:r>
          </a:p>
          <a:p>
            <a:pPr indent="0">
              <a:buNone/>
            </a:pPr>
            <a:r>
              <a:rPr lang="en-US" sz="1400" dirty="0">
                <a:latin typeface="Roboto" panose="02000000000000000000" pitchFamily="2" charset="0"/>
                <a:ea typeface="Roboto" panose="02000000000000000000" pitchFamily="2" charset="0"/>
                <a:cs typeface="Roboto" panose="02000000000000000000" pitchFamily="2" charset="0"/>
              </a:rPr>
              <a:t>Retirees</a:t>
            </a:r>
          </a:p>
        </p:txBody>
      </p:sp>
      <p:sp>
        <p:nvSpPr>
          <p:cNvPr id="39" name="Text 18">
            <a:extLst>
              <a:ext uri="{FF2B5EF4-FFF2-40B4-BE49-F238E27FC236}">
                <a16:creationId xmlns:a16="http://schemas.microsoft.com/office/drawing/2014/main" id="{E62D4320-595C-C618-A2B3-07AF8A1C3998}"/>
              </a:ext>
            </a:extLst>
          </p:cNvPr>
          <p:cNvSpPr/>
          <p:nvPr/>
        </p:nvSpPr>
        <p:spPr>
          <a:xfrm>
            <a:off x="9963040" y="4627953"/>
            <a:ext cx="2267712" cy="292608"/>
          </a:xfrm>
          <a:prstGeom prst="rect">
            <a:avLst/>
          </a:prstGeom>
          <a:noFill/>
          <a:ln/>
        </p:spPr>
        <p:txBody>
          <a:bodyPr wrap="square" lIns="0" tIns="0" rIns="0" bIns="0" rtlCol="0" anchor="ctr"/>
          <a:lstStyle/>
          <a:p>
            <a:pPr marL="0" indent="0">
              <a:buNone/>
            </a:pPr>
            <a:r>
              <a:rPr lang="en-US" sz="1100" dirty="0">
                <a:solidFill>
                  <a:srgbClr val="64748B"/>
                </a:solidFill>
                <a:latin typeface="Roboto" panose="02000000000000000000" pitchFamily="2" charset="0"/>
                <a:ea typeface="Roboto" panose="02000000000000000000" pitchFamily="2" charset="0"/>
                <a:cs typeface="Roboto" panose="02000000000000000000" pitchFamily="2" charset="0"/>
              </a:rPr>
              <a:t>Loyal, consistent spenders</a:t>
            </a:r>
            <a:endParaRPr lang="en-US" sz="1100" dirty="0">
              <a:latin typeface="Roboto" panose="02000000000000000000" pitchFamily="2" charset="0"/>
              <a:ea typeface="Roboto" panose="02000000000000000000" pitchFamily="2" charset="0"/>
              <a:cs typeface="Roboto" panose="02000000000000000000" pitchFamily="2" charset="0"/>
            </a:endParaRPr>
          </a:p>
        </p:txBody>
      </p:sp>
      <p:sp>
        <p:nvSpPr>
          <p:cNvPr id="40" name="Text 20">
            <a:extLst>
              <a:ext uri="{FF2B5EF4-FFF2-40B4-BE49-F238E27FC236}">
                <a16:creationId xmlns:a16="http://schemas.microsoft.com/office/drawing/2014/main" id="{45C5558C-D4F1-9E7A-5D4A-BF0EF7A90356}"/>
              </a:ext>
            </a:extLst>
          </p:cNvPr>
          <p:cNvSpPr/>
          <p:nvPr/>
        </p:nvSpPr>
        <p:spPr>
          <a:xfrm>
            <a:off x="1138974" y="872288"/>
            <a:ext cx="8019394" cy="502920"/>
          </a:xfrm>
          <a:prstGeom prst="rect">
            <a:avLst/>
          </a:prstGeom>
          <a:noFill/>
          <a:ln/>
        </p:spPr>
        <p:txBody>
          <a:bodyPr wrap="square" lIns="0" tIns="0" rIns="0" bIns="0" rtlCol="0" anchor="ctr"/>
          <a:lstStyle/>
          <a:p>
            <a:pPr marL="0" indent="0">
              <a:buNone/>
            </a:pPr>
            <a:r>
              <a:rPr lang="en-US" sz="1600" dirty="0">
                <a:latin typeface="Roboto  "/>
                <a:ea typeface="Calibri" panose="020F0502020204030204" pitchFamily="34" charset="0"/>
                <a:cs typeface="Calibri" panose="020F0502020204030204" pitchFamily="34" charset="0"/>
              </a:rPr>
              <a:t>Budget Older Families: high revenue </a:t>
            </a:r>
            <a:r>
              <a:rPr lang="en-US" sz="1600" dirty="0">
                <a:latin typeface="Roboto" panose="02000000000000000000" pitchFamily="2" charset="0"/>
                <a:ea typeface="Roboto" panose="02000000000000000000" pitchFamily="2" charset="0"/>
                <a:cs typeface="Roboto" panose="02000000000000000000" pitchFamily="2" charset="0"/>
              </a:rPr>
              <a:t>despite</a:t>
            </a:r>
            <a:r>
              <a:rPr lang="en-US" sz="1600" dirty="0">
                <a:latin typeface="Roboto  "/>
                <a:ea typeface="Calibri" panose="020F0502020204030204" pitchFamily="34" charset="0"/>
                <a:cs typeface="Calibri" panose="020F0502020204030204" pitchFamily="34" charset="0"/>
              </a:rPr>
              <a:t> fewer customers, they buy more per trip</a:t>
            </a:r>
          </a:p>
        </p:txBody>
      </p:sp>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Uplift Test &amp; Experimentation Analysis</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sp>
        <p:nvSpPr>
          <p:cNvPr id="8" name="Text Placeholder 7">
            <a:extLst>
              <a:ext uri="{FF2B5EF4-FFF2-40B4-BE49-F238E27FC236}">
                <a16:creationId xmlns:a16="http://schemas.microsoft.com/office/drawing/2014/main" id="{A8FB958D-97C8-9599-3352-00F3E9022288}"/>
              </a:ext>
            </a:extLst>
          </p:cNvPr>
          <p:cNvSpPr>
            <a:spLocks noGrp="1"/>
          </p:cNvSpPr>
          <p:nvPr>
            <p:ph type="body" sz="quarter" idx="10"/>
          </p:nvPr>
        </p:nvSpPr>
        <p:spPr>
          <a:xfrm>
            <a:off x="1196975" y="453371"/>
            <a:ext cx="10479600" cy="484682"/>
          </a:xfrm>
        </p:spPr>
        <p:txBody>
          <a:bodyPr/>
          <a:lstStyle/>
          <a:p>
            <a:r>
              <a:rPr lang="en-GB" b="1" dirty="0"/>
              <a:t>Store 77 vs Control Store 233 – Trial Results</a:t>
            </a:r>
          </a:p>
          <a:p>
            <a:endParaRPr lang="en-GB" dirty="0"/>
          </a:p>
        </p:txBody>
      </p:sp>
      <p:sp>
        <p:nvSpPr>
          <p:cNvPr id="9" name="Text Placeholder 7">
            <a:extLst>
              <a:ext uri="{FF2B5EF4-FFF2-40B4-BE49-F238E27FC236}">
                <a16:creationId xmlns:a16="http://schemas.microsoft.com/office/drawing/2014/main" id="{FA6F4583-967B-B101-4F95-12E4EA57BC7F}"/>
              </a:ext>
            </a:extLst>
          </p:cNvPr>
          <p:cNvSpPr txBox="1">
            <a:spLocks/>
          </p:cNvSpPr>
          <p:nvPr/>
        </p:nvSpPr>
        <p:spPr>
          <a:xfrm>
            <a:off x="1196975" y="1231097"/>
            <a:ext cx="10479600" cy="484682"/>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tx1"/>
                </a:solidFill>
                <a:latin typeface="Roboto  "/>
                <a:ea typeface="Calibri" pitchFamily="34" charset="-122"/>
                <a:cs typeface="Calibri" pitchFamily="34" charset="-120"/>
              </a:rPr>
              <a:t>Store 77 was paired with Store 233 as its control. The two stores showed very similar sales patterns and customer volumes in the pre-trial period, making Store 233 an ideal comparison.</a:t>
            </a:r>
            <a:endParaRPr lang="en-US" sz="1600" dirty="0">
              <a:solidFill>
                <a:schemeClr val="tx1"/>
              </a:solidFill>
              <a:latin typeface="Roboto  "/>
              <a:ea typeface="Calibri" pitchFamily="34" charset="-122"/>
              <a:cs typeface="Calibri" pitchFamily="34" charset="-120"/>
            </a:endParaRPr>
          </a:p>
          <a:p>
            <a:endParaRPr lang="en-GB" dirty="0"/>
          </a:p>
        </p:txBody>
      </p:sp>
      <p:pic>
        <p:nvPicPr>
          <p:cNvPr id="12" name="Picture 11">
            <a:extLst>
              <a:ext uri="{FF2B5EF4-FFF2-40B4-BE49-F238E27FC236}">
                <a16:creationId xmlns:a16="http://schemas.microsoft.com/office/drawing/2014/main" id="{96B53240-2D15-D67C-9ED4-74062C3431CB}"/>
              </a:ext>
            </a:extLst>
          </p:cNvPr>
          <p:cNvPicPr>
            <a:picLocks noChangeAspect="1"/>
          </p:cNvPicPr>
          <p:nvPr/>
        </p:nvPicPr>
        <p:blipFill>
          <a:blip r:embed="rId3"/>
          <a:stretch>
            <a:fillRect/>
          </a:stretch>
        </p:blipFill>
        <p:spPr>
          <a:xfrm>
            <a:off x="871563" y="2271583"/>
            <a:ext cx="5449482" cy="3013243"/>
          </a:xfrm>
          <a:prstGeom prst="rect">
            <a:avLst/>
          </a:prstGeom>
        </p:spPr>
      </p:pic>
      <p:pic>
        <p:nvPicPr>
          <p:cNvPr id="14" name="Picture 13">
            <a:extLst>
              <a:ext uri="{FF2B5EF4-FFF2-40B4-BE49-F238E27FC236}">
                <a16:creationId xmlns:a16="http://schemas.microsoft.com/office/drawing/2014/main" id="{4CF084BB-244C-14F9-C2D1-0E4939D6D7EC}"/>
              </a:ext>
            </a:extLst>
          </p:cNvPr>
          <p:cNvPicPr>
            <a:picLocks noChangeAspect="1"/>
          </p:cNvPicPr>
          <p:nvPr/>
        </p:nvPicPr>
        <p:blipFill>
          <a:blip r:embed="rId4"/>
          <a:stretch>
            <a:fillRect/>
          </a:stretch>
        </p:blipFill>
        <p:spPr>
          <a:xfrm>
            <a:off x="6436775" y="2271583"/>
            <a:ext cx="5338324" cy="2965126"/>
          </a:xfrm>
          <a:prstGeom prst="rect">
            <a:avLst/>
          </a:prstGeom>
        </p:spPr>
      </p:pic>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4EE2B-88EA-0013-426A-4B9B95C3E66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D6234CC-9345-D1AC-706D-74F5274A6A6B}"/>
              </a:ext>
            </a:extLst>
          </p:cNvPr>
          <p:cNvPicPr>
            <a:picLocks noChangeAspect="1"/>
          </p:cNvPicPr>
          <p:nvPr/>
        </p:nvPicPr>
        <p:blipFill>
          <a:blip r:embed="rId2"/>
          <a:stretch>
            <a:fillRect/>
          </a:stretch>
        </p:blipFill>
        <p:spPr>
          <a:xfrm>
            <a:off x="12305402" y="0"/>
            <a:ext cx="1993565" cy="1822862"/>
          </a:xfrm>
          <a:prstGeom prst="rect">
            <a:avLst/>
          </a:prstGeom>
        </p:spPr>
      </p:pic>
      <p:sp>
        <p:nvSpPr>
          <p:cNvPr id="8" name="Text Placeholder 7">
            <a:extLst>
              <a:ext uri="{FF2B5EF4-FFF2-40B4-BE49-F238E27FC236}">
                <a16:creationId xmlns:a16="http://schemas.microsoft.com/office/drawing/2014/main" id="{92C7FBB1-98E7-D1A5-9E64-65CD0758C4EC}"/>
              </a:ext>
            </a:extLst>
          </p:cNvPr>
          <p:cNvSpPr>
            <a:spLocks noGrp="1"/>
          </p:cNvSpPr>
          <p:nvPr>
            <p:ph type="body" sz="quarter" idx="10"/>
          </p:nvPr>
        </p:nvSpPr>
        <p:spPr>
          <a:xfrm>
            <a:off x="1196975" y="453371"/>
            <a:ext cx="10479600" cy="484682"/>
          </a:xfrm>
        </p:spPr>
        <p:txBody>
          <a:bodyPr/>
          <a:lstStyle/>
          <a:p>
            <a:r>
              <a:rPr lang="en-GB" b="1" dirty="0"/>
              <a:t>Store 86 vs Control Store 155 – Trial Results</a:t>
            </a:r>
          </a:p>
          <a:p>
            <a:endParaRPr lang="en-GB" dirty="0"/>
          </a:p>
        </p:txBody>
      </p:sp>
      <p:sp>
        <p:nvSpPr>
          <p:cNvPr id="9" name="Text Placeholder 7">
            <a:extLst>
              <a:ext uri="{FF2B5EF4-FFF2-40B4-BE49-F238E27FC236}">
                <a16:creationId xmlns:a16="http://schemas.microsoft.com/office/drawing/2014/main" id="{43BC35F6-5E42-DB3E-CF4B-C395BB807B01}"/>
              </a:ext>
            </a:extLst>
          </p:cNvPr>
          <p:cNvSpPr txBox="1">
            <a:spLocks/>
          </p:cNvSpPr>
          <p:nvPr/>
        </p:nvSpPr>
        <p:spPr>
          <a:xfrm>
            <a:off x="1196975" y="1231097"/>
            <a:ext cx="10479600" cy="484682"/>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t>Store 86 was paired with Store 155 as its control. Of all stores evaluated as potential matches, Store 155 showed the strongest combination of sales correlation and magnitude similarity to Store 86 in the pre-trial period. </a:t>
            </a:r>
            <a:endParaRPr lang="en-GB" dirty="0"/>
          </a:p>
        </p:txBody>
      </p:sp>
      <p:pic>
        <p:nvPicPr>
          <p:cNvPr id="4" name="Picture 3">
            <a:extLst>
              <a:ext uri="{FF2B5EF4-FFF2-40B4-BE49-F238E27FC236}">
                <a16:creationId xmlns:a16="http://schemas.microsoft.com/office/drawing/2014/main" id="{443EA857-EBB5-3700-BC0A-EED99CF750B4}"/>
              </a:ext>
            </a:extLst>
          </p:cNvPr>
          <p:cNvPicPr>
            <a:picLocks noChangeAspect="1"/>
          </p:cNvPicPr>
          <p:nvPr/>
        </p:nvPicPr>
        <p:blipFill>
          <a:blip r:embed="rId3"/>
          <a:stretch>
            <a:fillRect/>
          </a:stretch>
        </p:blipFill>
        <p:spPr>
          <a:xfrm>
            <a:off x="998483" y="2249214"/>
            <a:ext cx="5191468" cy="3059842"/>
          </a:xfrm>
          <a:prstGeom prst="rect">
            <a:avLst/>
          </a:prstGeom>
        </p:spPr>
      </p:pic>
      <p:pic>
        <p:nvPicPr>
          <p:cNvPr id="6" name="Picture 5">
            <a:extLst>
              <a:ext uri="{FF2B5EF4-FFF2-40B4-BE49-F238E27FC236}">
                <a16:creationId xmlns:a16="http://schemas.microsoft.com/office/drawing/2014/main" id="{1EF909F3-A56D-5F09-3DE4-354809CBD4B2}"/>
              </a:ext>
            </a:extLst>
          </p:cNvPr>
          <p:cNvPicPr>
            <a:picLocks noChangeAspect="1"/>
          </p:cNvPicPr>
          <p:nvPr/>
        </p:nvPicPr>
        <p:blipFill>
          <a:blip r:embed="rId4"/>
          <a:stretch>
            <a:fillRect/>
          </a:stretch>
        </p:blipFill>
        <p:spPr>
          <a:xfrm>
            <a:off x="6436775" y="2249214"/>
            <a:ext cx="5533759" cy="3059843"/>
          </a:xfrm>
          <a:prstGeom prst="rect">
            <a:avLst/>
          </a:prstGeom>
        </p:spPr>
      </p:pic>
    </p:spTree>
    <p:extLst>
      <p:ext uri="{BB962C8B-B14F-4D97-AF65-F5344CB8AC3E}">
        <p14:creationId xmlns:p14="http://schemas.microsoft.com/office/powerpoint/2010/main" val="33743718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44BBA-A3EC-41C3-5FB4-CB681AAB55B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7E90C7B-96BE-ADE5-A424-3620362F79FD}"/>
              </a:ext>
            </a:extLst>
          </p:cNvPr>
          <p:cNvPicPr>
            <a:picLocks noChangeAspect="1"/>
          </p:cNvPicPr>
          <p:nvPr/>
        </p:nvPicPr>
        <p:blipFill>
          <a:blip r:embed="rId2"/>
          <a:stretch>
            <a:fillRect/>
          </a:stretch>
        </p:blipFill>
        <p:spPr>
          <a:xfrm>
            <a:off x="12305402" y="0"/>
            <a:ext cx="1993565" cy="1822862"/>
          </a:xfrm>
          <a:prstGeom prst="rect">
            <a:avLst/>
          </a:prstGeom>
        </p:spPr>
      </p:pic>
      <p:sp>
        <p:nvSpPr>
          <p:cNvPr id="8" name="Text Placeholder 7">
            <a:extLst>
              <a:ext uri="{FF2B5EF4-FFF2-40B4-BE49-F238E27FC236}">
                <a16:creationId xmlns:a16="http://schemas.microsoft.com/office/drawing/2014/main" id="{A8E33071-BC88-9B0A-0E76-5CD8BD96D862}"/>
              </a:ext>
            </a:extLst>
          </p:cNvPr>
          <p:cNvSpPr>
            <a:spLocks noGrp="1"/>
          </p:cNvSpPr>
          <p:nvPr>
            <p:ph type="body" sz="quarter" idx="10"/>
          </p:nvPr>
        </p:nvSpPr>
        <p:spPr>
          <a:xfrm>
            <a:off x="1196975" y="453371"/>
            <a:ext cx="10479600" cy="484682"/>
          </a:xfrm>
        </p:spPr>
        <p:txBody>
          <a:bodyPr/>
          <a:lstStyle/>
          <a:p>
            <a:r>
              <a:rPr lang="en-GB" b="1" dirty="0"/>
              <a:t>Store 88 vs Control Store 237 – Trial Results</a:t>
            </a:r>
          </a:p>
          <a:p>
            <a:endParaRPr lang="en-GB" dirty="0"/>
          </a:p>
        </p:txBody>
      </p:sp>
      <p:sp>
        <p:nvSpPr>
          <p:cNvPr id="9" name="Text Placeholder 7">
            <a:extLst>
              <a:ext uri="{FF2B5EF4-FFF2-40B4-BE49-F238E27FC236}">
                <a16:creationId xmlns:a16="http://schemas.microsoft.com/office/drawing/2014/main" id="{EC0257D5-00BD-8610-E15F-2AC57757835E}"/>
              </a:ext>
            </a:extLst>
          </p:cNvPr>
          <p:cNvSpPr txBox="1">
            <a:spLocks/>
          </p:cNvSpPr>
          <p:nvPr/>
        </p:nvSpPr>
        <p:spPr>
          <a:xfrm>
            <a:off x="1196975" y="1231096"/>
            <a:ext cx="10479600" cy="734337"/>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t>Store 88 was paired with Store 237 as its control, after evaluating Store 237 against several other candidates. Store 237 was selected because it most closely mirrored Store 88's pre-trial sales trajectory and customer count patterns.</a:t>
            </a:r>
            <a:endParaRPr lang="en-GB" dirty="0"/>
          </a:p>
        </p:txBody>
      </p:sp>
      <p:pic>
        <p:nvPicPr>
          <p:cNvPr id="4" name="Picture 3">
            <a:extLst>
              <a:ext uri="{FF2B5EF4-FFF2-40B4-BE49-F238E27FC236}">
                <a16:creationId xmlns:a16="http://schemas.microsoft.com/office/drawing/2014/main" id="{1C77CFDD-BC7F-C42E-3A69-E09BA7852078}"/>
              </a:ext>
            </a:extLst>
          </p:cNvPr>
          <p:cNvPicPr>
            <a:picLocks noChangeAspect="1"/>
          </p:cNvPicPr>
          <p:nvPr/>
        </p:nvPicPr>
        <p:blipFill>
          <a:blip r:embed="rId3"/>
          <a:stretch>
            <a:fillRect/>
          </a:stretch>
        </p:blipFill>
        <p:spPr>
          <a:xfrm>
            <a:off x="744272" y="2406867"/>
            <a:ext cx="5574908" cy="3050299"/>
          </a:xfrm>
          <a:prstGeom prst="rect">
            <a:avLst/>
          </a:prstGeom>
        </p:spPr>
      </p:pic>
      <p:pic>
        <p:nvPicPr>
          <p:cNvPr id="6" name="Picture 5">
            <a:extLst>
              <a:ext uri="{FF2B5EF4-FFF2-40B4-BE49-F238E27FC236}">
                <a16:creationId xmlns:a16="http://schemas.microsoft.com/office/drawing/2014/main" id="{1EE1E072-58B4-51E2-2BF4-8971625F3082}"/>
              </a:ext>
            </a:extLst>
          </p:cNvPr>
          <p:cNvPicPr>
            <a:picLocks noChangeAspect="1"/>
          </p:cNvPicPr>
          <p:nvPr/>
        </p:nvPicPr>
        <p:blipFill>
          <a:blip r:embed="rId4"/>
          <a:stretch>
            <a:fillRect/>
          </a:stretch>
        </p:blipFill>
        <p:spPr>
          <a:xfrm>
            <a:off x="6436775" y="2406867"/>
            <a:ext cx="5574908" cy="3050299"/>
          </a:xfrm>
          <a:prstGeom prst="rect">
            <a:avLst/>
          </a:prstGeom>
        </p:spPr>
      </p:pic>
    </p:spTree>
    <p:extLst>
      <p:ext uri="{BB962C8B-B14F-4D97-AF65-F5344CB8AC3E}">
        <p14:creationId xmlns:p14="http://schemas.microsoft.com/office/powerpoint/2010/main" val="31977464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6759</TotalTime>
  <Words>747</Words>
  <Application>Microsoft Office PowerPoint</Application>
  <PresentationFormat>Widescreen</PresentationFormat>
  <Paragraphs>64</Paragraphs>
  <Slides>12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Roboto Light</vt:lpstr>
      <vt:lpstr>Roboto  </vt:lpstr>
      <vt:lpstr>Roboto Medium</vt:lpstr>
      <vt:lpstr>Arial</vt:lpstr>
      <vt:lpstr>Calibri</vt:lpstr>
      <vt:lpstr>Roboto</vt:lpstr>
      <vt:lpstr>Office Theme</vt:lpstr>
      <vt:lpstr>Category review: Customer Insights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ECSZMLPT0067</cp:lastModifiedBy>
  <cp:revision>474</cp:revision>
  <dcterms:created xsi:type="dcterms:W3CDTF">2018-02-07T23:23:24Z</dcterms:created>
  <dcterms:modified xsi:type="dcterms:W3CDTF">2026-02-18T20:01:20Z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